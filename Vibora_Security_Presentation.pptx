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4D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0332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E6F0ED"/>
                </a:solidFill>
                <a:latin typeface="Trebuchet MS"/>
              </a:defRPr>
            </a:pPr>
            <a:r>
              <a:t>COMPUTER SECURITY COURSE PROJECT (CSE 4531) • GROUP T15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103327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defRPr sz="4000" b="1">
                <a:solidFill>
                  <a:srgbClr val="FFFFFF"/>
                </a:solidFill>
                <a:latin typeface="Trebuchet MS"/>
              </a:defRPr>
            </a:pPr>
            <a:r>
              <a:t>Vibora: A Localized Community Portal</a:t>
            </a:r>
            <a:br/>
            <a:r>
              <a:t>&amp; Social Network for Bangladesh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383280"/>
            <a:ext cx="10332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E6F0ED"/>
                </a:solidFill>
                <a:latin typeface="Calibri"/>
              </a:defRPr>
            </a:pPr>
            <a:r>
              <a:t>Securing regional social platforms against telemetry harvesting, clickjacking, and backend injection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931920"/>
            <a:ext cx="10332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FFFFF"/>
                </a:solidFill>
                <a:latin typeface="Trebuchet MS"/>
              </a:defRPr>
            </a:pPr>
            <a:r>
              <a:t>Department of Computer Science and Engineering • United International University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389120"/>
            <a:ext cx="10332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E6F0ED"/>
                </a:solidFill>
                <a:latin typeface="Trebuchet MS"/>
              </a:defRPr>
            </a:pPr>
            <a:r>
              <a:t>Group Members: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54880"/>
            <a:ext cx="3291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FFFFF"/>
                </a:solidFill>
                <a:latin typeface="Calibri"/>
              </a:defRPr>
            </a:pPr>
            <a:r>
              <a:t>Shariful Islam</a:t>
            </a:r>
          </a:p>
          <a:p>
            <a:pPr>
              <a:defRPr sz="1100">
                <a:solidFill>
                  <a:srgbClr val="E6F0ED"/>
                </a:solidFill>
                <a:latin typeface="Calibri"/>
              </a:defRPr>
            </a:pPr>
            <a:r>
              <a:t>ID: 011221078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9120" y="4754880"/>
            <a:ext cx="3291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FFFFF"/>
                </a:solidFill>
                <a:latin typeface="Calibri"/>
              </a:defRPr>
            </a:pPr>
            <a:r>
              <a:t>Md. Mahmudul Hasan</a:t>
            </a:r>
          </a:p>
          <a:p>
            <a:pPr>
              <a:defRPr sz="1100">
                <a:solidFill>
                  <a:srgbClr val="E6F0ED"/>
                </a:solidFill>
                <a:latin typeface="Calibri"/>
              </a:defRPr>
            </a:pPr>
            <a:r>
              <a:t>ID: 011221079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0" y="4754880"/>
            <a:ext cx="3291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FFFFF"/>
                </a:solidFill>
                <a:latin typeface="Calibri"/>
              </a:defRPr>
            </a:pPr>
            <a:r>
              <a:t>Md. Ashiquzzaman Khan</a:t>
            </a:r>
          </a:p>
          <a:p>
            <a:pPr>
              <a:defRPr sz="1100">
                <a:solidFill>
                  <a:srgbClr val="E6F0ED"/>
                </a:solidFill>
                <a:latin typeface="Calibri"/>
              </a:defRPr>
            </a:pPr>
            <a:r>
              <a:t>ID: 011221080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5486400"/>
            <a:ext cx="3291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FFFFF"/>
                </a:solidFill>
                <a:latin typeface="Calibri"/>
              </a:defRPr>
            </a:pPr>
            <a:r>
              <a:t>Pulok Sikdar</a:t>
            </a:r>
          </a:p>
          <a:p>
            <a:pPr>
              <a:defRPr sz="1100">
                <a:solidFill>
                  <a:srgbClr val="E6F0ED"/>
                </a:solidFill>
                <a:latin typeface="Calibri"/>
              </a:defRPr>
            </a:pPr>
            <a:r>
              <a:t>ID: 011221167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89120" y="5486400"/>
            <a:ext cx="3291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FFFFF"/>
                </a:solidFill>
                <a:latin typeface="Calibri"/>
              </a:defRPr>
            </a:pPr>
            <a:r>
              <a:t>Rahat Ahmed Shafi</a:t>
            </a:r>
          </a:p>
          <a:p>
            <a:pPr>
              <a:defRPr sz="1100">
                <a:solidFill>
                  <a:srgbClr val="E6F0ED"/>
                </a:solidFill>
                <a:latin typeface="Calibri"/>
              </a:defRPr>
            </a:pPr>
            <a:r>
              <a:t>ID: 011221201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63840" y="5486400"/>
            <a:ext cx="3291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FFFFF"/>
                </a:solidFill>
                <a:latin typeface="Calibri"/>
              </a:defRPr>
            </a:pPr>
            <a:r>
              <a:t>Ahmad Hasan</a:t>
            </a:r>
          </a:p>
          <a:p>
            <a:pPr>
              <a:defRPr sz="1100">
                <a:solidFill>
                  <a:srgbClr val="E6F0ED"/>
                </a:solidFill>
                <a:latin typeface="Calibri"/>
              </a:defRPr>
            </a:pPr>
            <a:r>
              <a:t>ID: 011221435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06A4E"/>
                </a:solidFill>
                <a:latin typeface="Trebuchet MS"/>
              </a:defRPr>
            </a:pPr>
            <a:r>
              <a:t>CONTEXT &amp; DRIVERS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6984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1E293B"/>
                </a:solidFill>
                <a:latin typeface="Trebuchet MS"/>
              </a:defRPr>
            </a:pPr>
            <a:r>
              <a:t>Problem Statement &amp; Motivation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8655" cy="27432"/>
          </a:xfrm>
          <a:prstGeom prst="rect">
            <a:avLst/>
          </a:prstGeom>
          <a:solidFill>
            <a:srgbClr val="006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4805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97280" y="2011680"/>
            <a:ext cx="1645920" cy="32004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Trebuchet MS"/>
              </a:defRPr>
            </a:pPr>
            <a:r>
              <a:t>THE PROBLEM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468880"/>
            <a:ext cx="43891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1E293B"/>
                </a:solidFill>
                <a:latin typeface="Trebuchet MS"/>
              </a:defRPr>
            </a:pPr>
            <a:r>
              <a:t>Invasive Centralized Telemetry</a:t>
            </a:r>
          </a:p>
          <a:p>
            <a:pPr>
              <a:spcAft>
                <a:spcPts val="1200"/>
              </a:spcAft>
              <a:defRPr sz="1400">
                <a:solidFill>
                  <a:srgbClr val="1E293B"/>
                </a:solidFill>
                <a:latin typeface="Calibri"/>
              </a:defRPr>
            </a:pPr>
            <a:r>
              <a:t>• Centralized social media platforms run invasive SDKs &amp; telemetry scripts that harvest raw locations, search history, and device IDs for ad targeting.</a:t>
            </a:r>
          </a:p>
          <a:p>
            <a:pPr>
              <a:spcAft>
                <a:spcPts val="800"/>
              </a:spcAft>
              <a:defRPr sz="1800" b="1">
                <a:solidFill>
                  <a:srgbClr val="1E293B"/>
                </a:solidFill>
                <a:latin typeface="Trebuchet MS"/>
              </a:defRPr>
            </a:pPr>
            <a:r>
              <a:t>Insecure Federated Alternatives</a:t>
            </a:r>
          </a:p>
          <a:p>
            <a:pPr>
              <a:defRPr sz="1400">
                <a:solidFill>
                  <a:srgbClr val="1E293B"/>
                </a:solidFill>
                <a:latin typeface="Calibri"/>
              </a:defRPr>
            </a:pPr>
            <a:r>
              <a:t>• Decentralized networks push trust onto local administrators. Node admins can easily sniff unencrypted databases, logs, and private conversations.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645920"/>
            <a:ext cx="5120640" cy="44805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06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675120" y="2011680"/>
            <a:ext cx="1645920" cy="320040"/>
          </a:xfrm>
          <a:prstGeom prst="rect">
            <a:avLst/>
          </a:prstGeom>
          <a:solidFill>
            <a:srgbClr val="006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Trebuchet MS"/>
              </a:defRPr>
            </a:pPr>
            <a:r>
              <a:t>VIBORA'S VISION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0" y="2468880"/>
            <a:ext cx="43891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006A4E"/>
                </a:solidFill>
                <a:latin typeface="Trebuchet MS"/>
              </a:defRPr>
            </a:pPr>
            <a:r>
              <a:t>Privacy-Centric Discovery</a:t>
            </a:r>
          </a:p>
          <a:p>
            <a:pPr>
              <a:spcAft>
                <a:spcPts val="1200"/>
              </a:spcAft>
              <a:defRPr sz="1400">
                <a:solidFill>
                  <a:srgbClr val="1E293B"/>
                </a:solidFill>
                <a:latin typeface="Calibri"/>
              </a:defRPr>
            </a:pPr>
            <a:r>
              <a:t>• Replaces raw coordinate tracking with coarse university &amp; district metadata to match users locally (e.g. UIU peers, district blood donors) without leaking telemetry.</a:t>
            </a:r>
          </a:p>
          <a:p>
            <a:pPr>
              <a:spcAft>
                <a:spcPts val="800"/>
              </a:spcAft>
              <a:defRPr sz="1800" b="1">
                <a:solidFill>
                  <a:srgbClr val="006A4E"/>
                </a:solidFill>
                <a:latin typeface="Trebuchet MS"/>
              </a:defRPr>
            </a:pPr>
            <a:r>
              <a:t>Mitigated Server Environment</a:t>
            </a:r>
          </a:p>
          <a:p>
            <a:pPr>
              <a:defRPr sz="1400">
                <a:solidFill>
                  <a:srgbClr val="1E293B"/>
                </a:solidFill>
                <a:latin typeface="Calibri"/>
              </a:defRPr>
            </a:pPr>
            <a:r>
              <a:t>• Operates a hardened environment with Zero external tracker dependencies, custom middleware to sanitize database queries, and secure header profiles.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06A4E"/>
                </a:solidFill>
                <a:latin typeface="Trebuchet MS"/>
              </a:defRPr>
            </a:pPr>
            <a:r>
              <a:t>MARKET POSITIONING &amp; PRECEDENTS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6984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1E293B"/>
                </a:solidFill>
                <a:latin typeface="Trebuchet MS"/>
              </a:defRPr>
            </a:pPr>
            <a:r>
              <a:t>Background &amp; Related Work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8655" cy="27432"/>
          </a:xfrm>
          <a:prstGeom prst="rect">
            <a:avLst/>
          </a:prstGeom>
          <a:solidFill>
            <a:srgbClr val="006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51206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1">
                <a:solidFill>
                  <a:srgbClr val="006A4E"/>
                </a:solidFill>
                <a:latin typeface="Trebuchet MS"/>
              </a:defRPr>
            </a:pPr>
            <a:r>
              <a:t>The Localized Utility Gap</a:t>
            </a:r>
          </a:p>
          <a:p>
            <a:pPr>
              <a:spcAft>
                <a:spcPts val="1500"/>
              </a:spcAft>
              <a:defRPr sz="1500">
                <a:solidFill>
                  <a:srgbClr val="1E293B"/>
                </a:solidFill>
                <a:latin typeface="Calibri"/>
              </a:defRPr>
            </a:pPr>
            <a:r>
              <a:t>Bangladeshi internet users rely on highly disjointed platforms for daily community needs:</a:t>
            </a:r>
            <a:br/>
            <a:r>
              <a:t>• Tuition Matching (Student tutoring boards)</a:t>
            </a:r>
            <a:br/>
            <a:r>
              <a:t>• Emergency Blood Donor Finding (Red Crescent, FB groups)</a:t>
            </a:r>
            <a:br/>
            <a:r>
              <a:t>• Local Classifieds &amp; Job Openings (Bikroy, regional groups)</a:t>
            </a:r>
            <a:br/>
            <a:r>
              <a:t>• Real-time peer networking &amp; notices</a:t>
            </a:r>
          </a:p>
          <a:p>
            <a:pPr>
              <a:defRPr sz="1500">
                <a:solidFill>
                  <a:srgbClr val="64748B"/>
                </a:solidFill>
                <a:latin typeface="Calibri"/>
              </a:defRPr>
            </a:pPr>
            <a:r>
              <a:t>These networks lack identity verification, expose sensitive contact information to generic search crawlers, and do not prioritize client or data security.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645920"/>
            <a:ext cx="5120640" cy="12801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92240" y="1737360"/>
            <a:ext cx="4754880" cy="10972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200"/>
              </a:spcAft>
              <a:defRPr sz="1500" b="1">
                <a:solidFill>
                  <a:srgbClr val="1E293B"/>
                </a:solidFill>
                <a:latin typeface="Trebuchet MS"/>
              </a:defRPr>
            </a:pPr>
            <a:r>
              <a:t>Facebook Groups</a:t>
            </a:r>
          </a:p>
          <a:p>
            <a:pPr>
              <a:defRPr sz="1200">
                <a:solidFill>
                  <a:srgbClr val="1E293B"/>
                </a:solidFill>
                <a:latin typeface="Calibri"/>
              </a:defRPr>
            </a:pPr>
            <a:r>
              <a:t>• Security: Poor Security Headers / Massive Ad Profiling</a:t>
            </a:r>
          </a:p>
          <a:p>
            <a:pPr>
              <a:defRPr sz="1200">
                <a:solidFill>
                  <a:srgbClr val="64748B"/>
                </a:solidFill>
                <a:latin typeface="Calibri"/>
              </a:defRPr>
            </a:pPr>
            <a:r>
              <a:t>• Privacy: High Exposure of PII, raw profile scrapers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3108960"/>
            <a:ext cx="5120640" cy="12801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3200400"/>
            <a:ext cx="4754880" cy="10972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200"/>
              </a:spcAft>
              <a:defRPr sz="1500" b="1">
                <a:solidFill>
                  <a:srgbClr val="1E293B"/>
                </a:solidFill>
                <a:latin typeface="Trebuchet MS"/>
              </a:defRPr>
            </a:pPr>
            <a:r>
              <a:t>Regional Boards</a:t>
            </a:r>
          </a:p>
          <a:p>
            <a:pPr>
              <a:defRPr sz="1200">
                <a:solidFill>
                  <a:srgbClr val="1E293B"/>
                </a:solidFill>
                <a:latin typeface="Calibri"/>
              </a:defRPr>
            </a:pPr>
            <a:r>
              <a:t>• Security: Lack of Query Sanitization &amp; SSL Enforcements</a:t>
            </a:r>
          </a:p>
          <a:p>
            <a:pPr>
              <a:defRPr sz="1200">
                <a:solidFill>
                  <a:srgbClr val="64748B"/>
                </a:solidFill>
                <a:latin typeface="Calibri"/>
              </a:defRPr>
            </a:pPr>
            <a:r>
              <a:t>• Privacy: Exposes email/mobile numbers to crawl bots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4572000"/>
            <a:ext cx="5120640" cy="1280160"/>
          </a:xfrm>
          <a:prstGeom prst="roundRect">
            <a:avLst/>
          </a:prstGeom>
          <a:solidFill>
            <a:srgbClr val="E6F0ED"/>
          </a:solidFill>
          <a:ln w="19050">
            <a:solidFill>
              <a:srgbClr val="006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4663440"/>
            <a:ext cx="4754880" cy="10972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200"/>
              </a:spcAft>
              <a:defRPr sz="1500" b="1">
                <a:solidFill>
                  <a:srgbClr val="006A4E"/>
                </a:solidFill>
                <a:latin typeface="Trebuchet MS"/>
              </a:defRPr>
            </a:pPr>
            <a:r>
              <a:t>Vibora Portal</a:t>
            </a:r>
          </a:p>
          <a:p>
            <a:pPr>
              <a:defRPr sz="1200">
                <a:solidFill>
                  <a:srgbClr val="1E293B"/>
                </a:solidFill>
                <a:latin typeface="Calibri"/>
              </a:defRPr>
            </a:pPr>
            <a:r>
              <a:t>• Security: HSTS, CSP, X-Frame-Options, NoSQL Sanitizer</a:t>
            </a:r>
          </a:p>
          <a:p>
            <a:pPr>
              <a:defRPr sz="1200">
                <a:solidFill>
                  <a:srgbClr val="64748B"/>
                </a:solidFill>
                <a:latin typeface="Calibri"/>
              </a:defRPr>
            </a:pPr>
            <a:r>
              <a:t>• Privacy: Coarse boundaries, PII filtered on API layer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06A4E"/>
                </a:solidFill>
                <a:latin typeface="Trebuchet MS"/>
              </a:defRPr>
            </a:pPr>
            <a:r>
              <a:t>SYSTEM VULNERABILITIES &amp; BOUNDARIES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6984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1E293B"/>
                </a:solidFill>
                <a:latin typeface="Trebuchet MS"/>
              </a:defRPr>
            </a:pPr>
            <a:r>
              <a:t>Threat Model &amp; Security Scope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8655" cy="27432"/>
          </a:xfrm>
          <a:prstGeom prst="rect">
            <a:avLst/>
          </a:prstGeom>
          <a:solidFill>
            <a:srgbClr val="006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21031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920240"/>
            <a:ext cx="73152" cy="155448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4663440" cy="18288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400"/>
              </a:spcAft>
              <a:defRPr sz="1600" b="1">
                <a:solidFill>
                  <a:srgbClr val="1E293B"/>
                </a:solidFill>
                <a:latin typeface="Trebuchet MS"/>
              </a:defRPr>
            </a:pPr>
            <a:r>
              <a:t>01. Client-Side Hooking</a:t>
            </a:r>
          </a:p>
          <a:p>
            <a:pPr>
              <a:spcAft>
                <a:spcPts val="400"/>
              </a:spcAft>
              <a:defRPr sz="1100" b="1">
                <a:solidFill>
                  <a:srgbClr val="EF4444"/>
                </a:solidFill>
                <a:latin typeface="Calibri"/>
              </a:defRPr>
            </a:pPr>
            <a:r>
              <a:t>Threat Actor: Remote Web Exploiter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Attack: Injecting BeEF browser hook scripts via unhardened HTTP interfaces.</a:t>
            </a:r>
          </a:p>
          <a:p>
            <a:pPr>
              <a:defRPr sz="1100" i="1">
                <a:solidFill>
                  <a:srgbClr val="64748B"/>
                </a:solidFill>
                <a:latin typeface="Calibri"/>
              </a:defRPr>
            </a:pPr>
            <a:r>
              <a:t>Impact: Session takeover, client keylogging.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645920"/>
            <a:ext cx="5120640" cy="21031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309360" y="1920240"/>
            <a:ext cx="73152" cy="155448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0" y="1783080"/>
            <a:ext cx="4663440" cy="18288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400"/>
              </a:spcAft>
              <a:defRPr sz="1600" b="1">
                <a:solidFill>
                  <a:srgbClr val="1E293B"/>
                </a:solidFill>
                <a:latin typeface="Trebuchet MS"/>
              </a:defRPr>
            </a:pPr>
            <a:r>
              <a:t>02. Clickjacking Overlays</a:t>
            </a:r>
          </a:p>
          <a:p>
            <a:pPr>
              <a:spcAft>
                <a:spcPts val="400"/>
              </a:spcAft>
              <a:defRPr sz="1100" b="1">
                <a:solidFill>
                  <a:srgbClr val="EF4444"/>
                </a:solidFill>
                <a:latin typeface="Calibri"/>
              </a:defRPr>
            </a:pPr>
            <a:r>
              <a:t>Threat Actor: Phishing &amp; Spoofing Operators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Attack: Framing the login portal using King Phisher overlays to harvest credentials.</a:t>
            </a:r>
          </a:p>
          <a:p>
            <a:pPr>
              <a:defRPr sz="1100" i="1">
                <a:solidFill>
                  <a:srgbClr val="64748B"/>
                </a:solidFill>
                <a:latin typeface="Calibri"/>
              </a:defRPr>
            </a:pPr>
            <a:r>
              <a:t>Impact: Credentials leak, student identity fraud.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023360"/>
            <a:ext cx="5120640" cy="21031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31520" y="4297680"/>
            <a:ext cx="73152" cy="155448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4160520"/>
            <a:ext cx="4663440" cy="18288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400"/>
              </a:spcAft>
              <a:defRPr sz="1600" b="1">
                <a:solidFill>
                  <a:srgbClr val="1E293B"/>
                </a:solidFill>
                <a:latin typeface="Trebuchet MS"/>
              </a:defRPr>
            </a:pPr>
            <a:r>
              <a:t>03. NoSQL Injection</a:t>
            </a:r>
          </a:p>
          <a:p>
            <a:pPr>
              <a:spcAft>
                <a:spcPts val="400"/>
              </a:spcAft>
              <a:defRPr sz="1100" b="1">
                <a:solidFill>
                  <a:srgbClr val="EF4444"/>
                </a:solidFill>
                <a:latin typeface="Calibri"/>
              </a:defRPr>
            </a:pPr>
            <a:r>
              <a:t>Threat Actor: Malicious Authenticated User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Attack: Sending JSON payloads containing operator bypasses ($ne, $gt) to MongoDB endpoints.</a:t>
            </a:r>
          </a:p>
          <a:p>
            <a:pPr>
              <a:defRPr sz="1100" i="1">
                <a:solidFill>
                  <a:srgbClr val="64748B"/>
                </a:solidFill>
                <a:latin typeface="Calibri"/>
              </a:defRPr>
            </a:pPr>
            <a:r>
              <a:t>Impact: Authentication bypass, database extraction.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09360" y="4023360"/>
            <a:ext cx="5120640" cy="21031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09360" y="4297680"/>
            <a:ext cx="73152" cy="155448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80" y="4160520"/>
            <a:ext cx="4663440" cy="18288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400"/>
              </a:spcAft>
              <a:defRPr sz="1600" b="1">
                <a:solidFill>
                  <a:srgbClr val="1E293B"/>
                </a:solidFill>
                <a:latin typeface="Trebuchet MS"/>
              </a:defRPr>
            </a:pPr>
            <a:r>
              <a:t>04. PII Harvesting</a:t>
            </a:r>
          </a:p>
          <a:p>
            <a:pPr>
              <a:spcAft>
                <a:spcPts val="400"/>
              </a:spcAft>
              <a:defRPr sz="1100" b="1">
                <a:solidFill>
                  <a:srgbClr val="EF4444"/>
                </a:solidFill>
                <a:latin typeface="Calibri"/>
              </a:defRPr>
            </a:pPr>
            <a:r>
              <a:t>Threat Actor: Commercial Advertisers / Scrapers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Attack: Scraping location details, phone numbers, and peer relationships via open REST APIs.</a:t>
            </a:r>
          </a:p>
          <a:p>
            <a:pPr>
              <a:defRPr sz="1100" i="1">
                <a:solidFill>
                  <a:srgbClr val="64748B"/>
                </a:solidFill>
                <a:latin typeface="Calibri"/>
              </a:defRPr>
            </a:pPr>
            <a:r>
              <a:t>Impact: Physical tracking, spam profile creation.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06A4E"/>
                </a:solidFill>
                <a:latin typeface="Trebuchet MS"/>
              </a:defRPr>
            </a:pPr>
            <a:r>
              <a:t>INTEGRATED HARDENED BLUEPRINT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6984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1E293B"/>
                </a:solidFill>
                <a:latin typeface="Trebuchet MS"/>
              </a:defRPr>
            </a:pPr>
            <a:r>
              <a:t>Proposed Solution &amp; System 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8655" cy="27432"/>
          </a:xfrm>
          <a:prstGeom prst="rect">
            <a:avLst/>
          </a:prstGeom>
          <a:solidFill>
            <a:srgbClr val="006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383280" cy="4480560"/>
          </a:xfrm>
          <a:prstGeom prst="roundRect">
            <a:avLst/>
          </a:prstGeom>
          <a:solidFill>
            <a:srgbClr val="E6F0ED"/>
          </a:solidFill>
          <a:ln w="19050">
            <a:solidFill>
              <a:srgbClr val="006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3017520" cy="41148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200"/>
              </a:spcAft>
              <a:defRPr sz="1600" b="1">
                <a:solidFill>
                  <a:srgbClr val="1E293B"/>
                </a:solidFill>
                <a:latin typeface="Trebuchet MS"/>
              </a:defRPr>
            </a:pPr>
            <a:r>
              <a:t>HARDENED CLIENT (React)</a:t>
            </a:r>
          </a:p>
          <a:p>
            <a:pPr>
              <a:spcAft>
                <a:spcPts val="1200"/>
              </a:spcAft>
              <a:defRPr sz="1100" b="1">
                <a:solidFill>
                  <a:srgbClr val="006A4E"/>
                </a:solidFill>
                <a:latin typeface="Calibri"/>
              </a:defRPr>
            </a:pPr>
            <a:r>
              <a:t>Vite SPA + Tailwind CSS v4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• </a:t>
            </a:r>
            <a:r>
              <a:rPr b="1"/>
              <a:t>Strict Content Security Policy: </a:t>
            </a:r>
            <a:r>
              <a:t>Response headers restrict script evaluation exclusively to 'self' source blocks.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• </a:t>
            </a:r>
            <a:r>
              <a:rPr b="1"/>
              <a:t>Clickjacking Shields: </a:t>
            </a:r>
            <a:r>
              <a:t>Frames are fully blocked via X-Frame-Options: DENY configurations.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• </a:t>
            </a:r>
            <a:r>
              <a:rPr b="1"/>
              <a:t>Force TLS Channels: </a:t>
            </a:r>
            <a:r>
              <a:t>HSTS policies force clients to bypass HTTP, mitigating MITM credentials sniffing.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645920"/>
            <a:ext cx="3383280" cy="44805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0" y="1828800"/>
            <a:ext cx="3017520" cy="41148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200"/>
              </a:spcAft>
              <a:defRPr sz="1600" b="1">
                <a:solidFill>
                  <a:srgbClr val="1E293B"/>
                </a:solidFill>
                <a:latin typeface="Trebuchet MS"/>
              </a:defRPr>
            </a:pPr>
            <a:r>
              <a:t>MITIGATED SERVER (Node)</a:t>
            </a:r>
          </a:p>
          <a:p>
            <a:pPr>
              <a:spcAft>
                <a:spcPts val="1200"/>
              </a:spcAft>
              <a:defRPr sz="1100" b="1">
                <a:solidFill>
                  <a:srgbClr val="64748B"/>
                </a:solidFill>
                <a:latin typeface="Calibri"/>
              </a:defRPr>
            </a:pPr>
            <a:r>
              <a:t>Express API + Native WebSockets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• </a:t>
            </a:r>
            <a:r>
              <a:rPr b="1"/>
              <a:t>NoSQL Injection Shield: </a:t>
            </a:r>
            <a:r>
              <a:t>Middleware scans incoming payloads recursively, stripping any keys prefixed with '$'.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• </a:t>
            </a:r>
            <a:r>
              <a:rPr b="1"/>
              <a:t>WebSocket Verification: </a:t>
            </a:r>
            <a:r>
              <a:t>Connection handshake validates JWT signatures before spawning channels.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• </a:t>
            </a:r>
            <a:r>
              <a:rPr b="1"/>
              <a:t>Standardized Logs: </a:t>
            </a:r>
            <a:r>
              <a:t>Emits JSON structures compatible with SIEM (Wazuh/ELK) for instant auditing.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645920"/>
            <a:ext cx="3383280" cy="44805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0" y="1828800"/>
            <a:ext cx="3017520" cy="41148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200"/>
              </a:spcAft>
              <a:defRPr sz="1600" b="1">
                <a:solidFill>
                  <a:srgbClr val="1E293B"/>
                </a:solidFill>
                <a:latin typeface="Trebuchet MS"/>
              </a:defRPr>
            </a:pPr>
            <a:r>
              <a:t>HYBRID STORAGE DB</a:t>
            </a:r>
          </a:p>
          <a:p>
            <a:pPr>
              <a:spcAft>
                <a:spcPts val="1200"/>
              </a:spcAft>
              <a:defRPr sz="1100" b="1">
                <a:solidFill>
                  <a:srgbClr val="006A4E"/>
                </a:solidFill>
                <a:latin typeface="Calibri"/>
              </a:defRPr>
            </a:pPr>
            <a:r>
              <a:t>Zero-Config Atlas / Local Fallback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• </a:t>
            </a:r>
            <a:r>
              <a:rPr b="1"/>
              <a:t>Strict Port Isolation: </a:t>
            </a:r>
            <a:r>
              <a:t>MongoDB bindings reject external connections; internal API traffic only.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• </a:t>
            </a:r>
            <a:r>
              <a:rPr b="1"/>
              <a:t>PII Filter Pipeline: </a:t>
            </a:r>
            <a:r>
              <a:t>Schemas sanitize output arrays, filtering sensitive hashes/emails on read.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  <a:latin typeface="Calibri"/>
              </a:defRPr>
            </a:pPr>
            <a:r>
              <a:t>• </a:t>
            </a:r>
            <a:r>
              <a:rPr b="1"/>
              <a:t>RAM Cache Protection: </a:t>
            </a:r>
            <a:r>
              <a:t>In-memory filters block brute-force resource exhausting request sequences.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06A4E"/>
                </a:solidFill>
                <a:latin typeface="Trebuchet MS"/>
              </a:defRPr>
            </a:pPr>
            <a:r>
              <a:t>HUMAN CENTRIC PROTECTION &amp; ABUSE PREVENTION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6984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1E293B"/>
                </a:solidFill>
                <a:latin typeface="Trebuchet MS"/>
              </a:defRPr>
            </a:pPr>
            <a:r>
              <a:t>Ethical Considerations &amp; Safety Precautions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8655" cy="27432"/>
          </a:xfrm>
          <a:prstGeom prst="rect">
            <a:avLst/>
          </a:prstGeom>
          <a:solidFill>
            <a:srgbClr val="006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210312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006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8308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E6F0ED"/>
                </a:solidFill>
                <a:latin typeface="Trebuchet MS"/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1783080"/>
            <a:ext cx="4114800" cy="18288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400"/>
              </a:spcAft>
              <a:defRPr sz="1600" b="1">
                <a:solidFill>
                  <a:srgbClr val="1E293B"/>
                </a:solidFill>
                <a:latin typeface="Trebuchet MS"/>
              </a:defRPr>
            </a:pPr>
            <a:r>
              <a:t>Geotag Tracking Mitigation</a:t>
            </a:r>
          </a:p>
          <a:p>
            <a:pPr>
              <a:defRPr sz="1300">
                <a:solidFill>
                  <a:srgbClr val="64748B"/>
                </a:solidFill>
                <a:latin typeface="Calibri"/>
              </a:defRPr>
            </a:pPr>
            <a:r>
              <a:t>Mitigates physical stalker risks by rejecting GPS trackers. Coarse city/university parameters allow peer matching without compromising the physical location histories of students, tutors, or blood donors.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645920"/>
            <a:ext cx="5120640" cy="210312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78308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E6F0ED"/>
                </a:solidFill>
                <a:latin typeface="Trebuchet MS"/>
              </a:defRPr>
            </a:pPr>
            <a: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0" y="1783080"/>
            <a:ext cx="4114800" cy="18288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400"/>
              </a:spcAft>
              <a:defRPr sz="1600" b="1">
                <a:solidFill>
                  <a:srgbClr val="1E293B"/>
                </a:solidFill>
                <a:latin typeface="Trebuchet MS"/>
              </a:defRPr>
            </a:pPr>
            <a:r>
              <a:t>Centralized Log Auditing</a:t>
            </a:r>
          </a:p>
          <a:p>
            <a:pPr>
              <a:defRPr sz="1300">
                <a:solidFill>
                  <a:srgbClr val="64748B"/>
                </a:solidFill>
                <a:latin typeface="Calibri"/>
              </a:defRPr>
            </a:pPr>
            <a:r>
              <a:t>Logging formats avoid capturing raw API keys, passwords, or transaction codes. Centralized structures are formatted to monitor traffic anomalies without infringing on user profile privacy rights.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023360"/>
            <a:ext cx="5120640" cy="210312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006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416052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E6F0ED"/>
                </a:solidFill>
                <a:latin typeface="Trebuchet MS"/>
              </a:defRPr>
            </a:pPr>
            <a: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80" y="4160520"/>
            <a:ext cx="4114800" cy="18288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400"/>
              </a:spcAft>
              <a:defRPr sz="1600" b="1">
                <a:solidFill>
                  <a:srgbClr val="1E293B"/>
                </a:solidFill>
                <a:latin typeface="Trebuchet MS"/>
              </a:defRPr>
            </a:pPr>
            <a:r>
              <a:t>PII Minimization on Fetch</a:t>
            </a:r>
          </a:p>
          <a:p>
            <a:pPr>
              <a:defRPr sz="1300">
                <a:solidFill>
                  <a:srgbClr val="64748B"/>
                </a:solidFill>
                <a:latin typeface="Calibri"/>
              </a:defRPr>
            </a:pPr>
            <a:r>
              <a:t>Database responses are passed through custom filters before reaching the API layer. Credentials, email addresses, and session variables are scrubbed out by default, stopping unintentional system leaks.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09360" y="4023360"/>
            <a:ext cx="5120640" cy="210312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92240" y="416052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E6F0ED"/>
                </a:solidFill>
                <a:latin typeface="Trebuchet MS"/>
              </a:defRPr>
            </a:pPr>
            <a:r>
              <a:t>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0" y="4160520"/>
            <a:ext cx="4114800" cy="18288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400"/>
              </a:spcAft>
              <a:defRPr sz="1600" b="1">
                <a:solidFill>
                  <a:srgbClr val="1E293B"/>
                </a:solidFill>
                <a:latin typeface="Trebuchet MS"/>
              </a:defRPr>
            </a:pPr>
            <a:r>
              <a:t>Denial-of-Service Defense</a:t>
            </a:r>
          </a:p>
          <a:p>
            <a:pPr>
              <a:defRPr sz="1300">
                <a:solidFill>
                  <a:srgbClr val="64748B"/>
                </a:solidFill>
                <a:latin typeface="Calibri"/>
              </a:defRPr>
            </a:pPr>
            <a:r>
              <a:t>Protects platform availability for critical operations (like emergency blood matching) by restricting socket connection handshakes and query sizes, preventing server crash attempts.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06A4E"/>
                </a:solidFill>
                <a:latin typeface="Trebuchet MS"/>
              </a:defRPr>
            </a:pPr>
            <a:r>
              <a:t>SUMMARY &amp; 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6984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1E293B"/>
                </a:solidFill>
                <a:latin typeface="Trebuchet MS"/>
              </a:defRPr>
            </a:pPr>
            <a:r>
              <a:t>Conclusion &amp; Future Outlook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8655" cy="27432"/>
          </a:xfrm>
          <a:prstGeom prst="rect">
            <a:avLst/>
          </a:prstGeom>
          <a:solidFill>
            <a:srgbClr val="006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4805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06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97280" y="2011680"/>
            <a:ext cx="2011680" cy="320040"/>
          </a:xfrm>
          <a:prstGeom prst="rect">
            <a:avLst/>
          </a:prstGeom>
          <a:solidFill>
            <a:srgbClr val="006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Trebuchet MS"/>
              </a:defRPr>
            </a:pPr>
            <a:r>
              <a:t>KEY ACHIEVEMENTS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468880"/>
            <a:ext cx="43891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700" b="1">
                <a:solidFill>
                  <a:srgbClr val="1E293B"/>
                </a:solidFill>
                <a:latin typeface="Trebuchet MS"/>
              </a:defRPr>
            </a:pPr>
            <a:r>
              <a:t>Hardened Regional Social Portal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  <a:latin typeface="Calibri"/>
              </a:defRPr>
            </a:pPr>
            <a:r>
              <a:t>• Successfully combined localized utilities (tutor matching, blood donor finding, internship board) with a secure social environment.</a:t>
            </a:r>
          </a:p>
          <a:p>
            <a:pPr>
              <a:spcAft>
                <a:spcPts val="400"/>
              </a:spcAft>
              <a:defRPr sz="1700" b="1">
                <a:solidFill>
                  <a:srgbClr val="1E293B"/>
                </a:solidFill>
                <a:latin typeface="Trebuchet MS"/>
              </a:defRPr>
            </a:pPr>
            <a:r>
              <a:t>Privacy by Design Baseline</a:t>
            </a:r>
          </a:p>
          <a:p>
            <a:pPr>
              <a:defRPr sz="1300">
                <a:solidFill>
                  <a:srgbClr val="1E293B"/>
                </a:solidFill>
                <a:latin typeface="Calibri"/>
              </a:defRPr>
            </a:pPr>
            <a:r>
              <a:t>• Mitigated stalker risks and third-party advertising tracking by replacing precise geolocation telemetry with coarse university and district parameters.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645920"/>
            <a:ext cx="5120640" cy="44805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675120" y="2011680"/>
            <a:ext cx="2011680" cy="320040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Trebuchet MS"/>
              </a:defRPr>
            </a:pPr>
            <a:r>
              <a:t>FUTURE ROADMAP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0" y="2468880"/>
            <a:ext cx="43891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700" b="1">
                <a:solidFill>
                  <a:srgbClr val="1E293B"/>
                </a:solidFill>
                <a:latin typeface="Trebuchet MS"/>
              </a:defRPr>
            </a:pPr>
            <a:r>
              <a:t>SIEM &amp; Wazuh Streaming Integration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  <a:latin typeface="Calibri"/>
              </a:defRPr>
            </a:pPr>
            <a:r>
              <a:t>• Standardized JSON system logs are ready to be streamed to automated SIEM dashboards for active intrusion detection and security alerts.</a:t>
            </a:r>
          </a:p>
          <a:p>
            <a:pPr>
              <a:spcAft>
                <a:spcPts val="400"/>
              </a:spcAft>
              <a:defRPr sz="1700" b="1">
                <a:solidFill>
                  <a:srgbClr val="1E293B"/>
                </a:solidFill>
                <a:latin typeface="Trebuchet MS"/>
              </a:defRPr>
            </a:pPr>
            <a:r>
              <a:t>MFA &amp; Session Hardening</a:t>
            </a:r>
          </a:p>
          <a:p>
            <a:pPr>
              <a:defRPr sz="1300">
                <a:solidFill>
                  <a:srgbClr val="1E293B"/>
                </a:solidFill>
                <a:latin typeface="Calibri"/>
              </a:defRPr>
            </a:pPr>
            <a:r>
              <a:t>• Enforce hardware token authentication or email/SMS OTPs to completely neutralize mock phishing overlays and physical session thefts.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